
<file path=[Content_Types].xml><?xml version="1.0" encoding="utf-8"?>
<Types xmlns="http://schemas.openxmlformats.org/package/2006/content-types">
  <Default ContentType="application/vnd.openxmlformats-officedocument.presentationml.printerSettings" Extension="bin"/>
  <Default ContentType="image/jpeg" Extension="jpe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officedocument.presentationml.presProps+xml" PartName="/ppt/presProps.xml"/>
  <Override ContentType="application/vnd.openxmlformats-officedocument.presentationml.presentation.main+xml" PartName="/ppt/presentation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tableStyles+xml" PartName="/ppt/tableStyle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package.core-properties+xml" PartName="/docProps/core.xml"/>
</Types>
</file>

<file path=_rels/.rels><?xml version="1.0" encoding="UTF-8" standalone="yes"?><Relationships xmlns="http://schemas.openxmlformats.org/package/2006/relationships"><Relationship Id="rId4" Target="ppt/presentation.xml" Type="http://schemas.openxmlformats.org/officeDocument/2006/relationships/officeDocument"/><Relationship Id="rId3" Target="docProps/core.xml" Type="http://schemas.openxmlformats.org/package/2006/relationships/metadata/core-properties"/><Relationship Id="rId2" Target="docProps/app.xml" Type="http://schemas.openxmlformats.org/officeDocument/2006/relationships/extended-properties"/><Relationship Id="rId1" Target="docProps/thumbnail.jpeg" Type="http://schemas.openxmlformats.org/package/2006/relationships/metadata/thumbnai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saveSubsetFonts="1">
  <p:sldMasterIdLst>
    <p:sldMasterId id="2147483659" r:id="rId6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d="100" n="124"/>
          <a:sy d="100" n="124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 standalone="yes"?><Relationships xmlns="http://schemas.openxmlformats.org/package/2006/relationships"><Relationship Id="rId12" Target="slides/slide6.xml" Type="http://schemas.openxmlformats.org/officeDocument/2006/relationships/slide"/><Relationship Id="rId11" Target="slides/slide5.xml" Type="http://schemas.openxmlformats.org/officeDocument/2006/relationships/slide"/><Relationship Id="rId10" Target="slides/slide4.xml" Type="http://schemas.openxmlformats.org/officeDocument/2006/relationships/slide"/><Relationship Id="rId9" Target="slides/slide3.xml" Type="http://schemas.openxmlformats.org/officeDocument/2006/relationships/slide"/><Relationship Id="rId8" Target="slides/slide2.xml" Type="http://schemas.openxmlformats.org/officeDocument/2006/relationships/slide"/><Relationship Id="rId7" Target="slides/slide1.xml" Type="http://schemas.openxmlformats.org/officeDocument/2006/relationships/slide"/><Relationship Id="rId6" Target="slideMasters/slideMaster1.xml" Type="http://schemas.openxmlformats.org/officeDocument/2006/relationships/slideMaster"/><Relationship Id="rId5" Target="printerSettings/printerSettings1.bin" Type="http://schemas.openxmlformats.org/officeDocument/2006/relationships/printerSettings"/><Relationship Id="rId4" Target="tableStyles.xml" Type="http://schemas.openxmlformats.org/officeDocument/2006/relationships/tableStyles"/><Relationship Id="rId3" Target="presProps.xml" Type="http://schemas.openxmlformats.org/officeDocument/2006/relationships/presProps"/><Relationship Id="rId2" Target="viewProps.xml" Type="http://schemas.openxmlformats.org/officeDocument/2006/relationships/viewProps"/><Relationship Id="rId1" Target="theme/theme1.xml" Type="http://schemas.openxmlformats.org/officeDocument/2006/relationships/theme"/></Relationships>
</file>

<file path=ppt/slideLayouts/_rels/slideLayout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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3886200"/>
            <a:ext cx="6400800" cy="1752600"/>
          </a:xfrm>
        </p:spPr>
        <p:txBody>
          <a:bodyPr numCol="1"/>
          <a:lstStyle>
            <a:lvl1pPr algn="ctr" indent="0" marL="0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algn="ctr" indent="0" marL="457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algn="ctr" indent="0" marL="914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algn="ctr" indent="0" marL="1371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algn="ctr" indent="0" marL="1828800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algn="ctr" indent="0" marL="2286000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algn="ctr" indent="0" marL="2743200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algn="ctr" indent="0" marL="3200400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algn="ctr" indent="0" marL="3657600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numCol="1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 numCol="1"/>
          <a:lstStyle>
            <a:lvl1pPr algn="l">
              <a:defRPr b="1" cap="all" sz="4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722313" y="2906713"/>
            <a:ext cx="7772400" cy="1500187"/>
          </a:xfrm>
        </p:spPr>
        <p:txBody>
          <a:bodyPr anchor="b" numCol="1"/>
          <a:lstStyle>
            <a:lvl1pPr indent="0" marL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indent="0" marL="45720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indent="0" marL="91440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indent="0" marL="1371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indent="0" marL="18288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indent="0" marL="22860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indent="0" marL="27432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indent="0" marL="32004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indent="0" marL="365760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>
          <a:xfrm>
            <a:off x="457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648200" y="1600200"/>
            <a:ext cx="4038600" cy="4525963"/>
          </a:xfrm>
        </p:spPr>
        <p:txBody>
          <a:bodyPr numCol="1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535113"/>
            <a:ext cx="4040188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>
          <a:xfrm>
            <a:off x="457200" y="2174875"/>
            <a:ext cx="4040188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idx="3" sz="quarter" type="body"/>
          </p:nvPr>
        </p:nvSpPr>
        <p:spPr>
          <a:xfrm>
            <a:off x="4645025" y="1535113"/>
            <a:ext cx="4041775" cy="639762"/>
          </a:xfrm>
        </p:spPr>
        <p:txBody>
          <a:bodyPr anchor="b" numCol="1"/>
          <a:lstStyle>
            <a:lvl1pPr indent="0" marL="0">
              <a:buNone/>
              <a:defRPr b="1" sz="2400"/>
            </a:lvl1pPr>
            <a:lvl2pPr indent="0" marL="457200">
              <a:buNone/>
              <a:defRPr b="1" sz="2000"/>
            </a:lvl2pPr>
            <a:lvl3pPr indent="0" marL="914400">
              <a:buNone/>
              <a:defRPr b="1" sz="1800"/>
            </a:lvl3pPr>
            <a:lvl4pPr indent="0" marL="1371600">
              <a:buNone/>
              <a:defRPr b="1" sz="1600"/>
            </a:lvl4pPr>
            <a:lvl5pPr indent="0" marL="1828800">
              <a:buNone/>
              <a:defRPr b="1" sz="1600"/>
            </a:lvl5pPr>
            <a:lvl6pPr indent="0" marL="2286000">
              <a:buNone/>
              <a:defRPr b="1" sz="1600"/>
            </a:lvl6pPr>
            <a:lvl7pPr indent="0" marL="2743200">
              <a:buNone/>
              <a:defRPr b="1" sz="1600"/>
            </a:lvl7pPr>
            <a:lvl8pPr indent="0" marL="3200400">
              <a:buNone/>
              <a:defRPr b="1" sz="1600"/>
            </a:lvl8pPr>
            <a:lvl9pPr indent="0" marL="3657600">
              <a:buNone/>
              <a:defRPr b="1"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idx="4" sz="quarter"/>
          </p:nvPr>
        </p:nvSpPr>
        <p:spPr>
          <a:xfrm>
            <a:off x="4645025" y="2174875"/>
            <a:ext cx="4041775" cy="3951288"/>
          </a:xfrm>
        </p:spPr>
        <p:txBody>
          <a:bodyPr numCol="1"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 numCol="1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457200" y="1435100"/>
            <a:ext cx="3008313" cy="4691063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 numCol="1"/>
          <a:lstStyle>
            <a:lvl1pPr algn="l">
              <a:defRPr b="1" sz="2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idx="1" type="pic"/>
          </p:nvPr>
        </p:nvSpPr>
        <p:spPr>
          <a:xfrm>
            <a:off x="1792288" y="612775"/>
            <a:ext cx="5486400" cy="4114800"/>
          </a:xfrm>
        </p:spPr>
        <p:txBody>
          <a:bodyPr numCol="1"/>
          <a:lstStyle>
            <a:lvl1pPr indent="0" marL="0">
              <a:buNone/>
              <a:defRPr sz="3200"/>
            </a:lvl1pPr>
            <a:lvl2pPr indent="0" marL="457200">
              <a:buNone/>
              <a:defRPr sz="2800"/>
            </a:lvl2pPr>
            <a:lvl3pPr indent="0" marL="914400">
              <a:buNone/>
              <a:defRPr sz="2400"/>
            </a:lvl3pPr>
            <a:lvl4pPr indent="0" marL="1371600">
              <a:buNone/>
              <a:defRPr sz="2000"/>
            </a:lvl4pPr>
            <a:lvl5pPr indent="0" marL="1828800">
              <a:buNone/>
              <a:defRPr sz="2000"/>
            </a:lvl5pPr>
            <a:lvl6pPr indent="0" marL="2286000">
              <a:buNone/>
              <a:defRPr sz="2000"/>
            </a:lvl6pPr>
            <a:lvl7pPr indent="0" marL="2743200">
              <a:buNone/>
              <a:defRPr sz="2000"/>
            </a:lvl7pPr>
            <a:lvl8pPr indent="0" marL="3200400">
              <a:buNone/>
              <a:defRPr sz="2000"/>
            </a:lvl8pPr>
            <a:lvl9pPr indent="0" marL="365760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>
          <a:xfrm>
            <a:off x="1792288" y="5367338"/>
            <a:ext cx="5486400" cy="804862"/>
          </a:xfrm>
        </p:spPr>
        <p:txBody>
          <a:bodyPr numCol="1"/>
          <a:lstStyle>
            <a:lvl1pPr indent="0" marL="0">
              <a:buNone/>
              <a:defRPr sz="1400"/>
            </a:lvl1pPr>
            <a:lvl2pPr indent="0" marL="457200">
              <a:buNone/>
              <a:defRPr sz="1200"/>
            </a:lvl2pPr>
            <a:lvl3pPr indent="0" marL="914400">
              <a:buNone/>
              <a:defRPr sz="1000"/>
            </a:lvl3pPr>
            <a:lvl4pPr indent="0" marL="1371600">
              <a:buNone/>
              <a:defRPr sz="900"/>
            </a:lvl4pPr>
            <a:lvl5pPr indent="0" marL="1828800">
              <a:buNone/>
              <a:defRPr sz="900"/>
            </a:lvl5pPr>
            <a:lvl6pPr indent="0" marL="2286000">
              <a:buNone/>
              <a:defRPr sz="900"/>
            </a:lvl6pPr>
            <a:lvl7pPr indent="0" marL="2743200">
              <a:buNone/>
              <a:defRPr sz="900"/>
            </a:lvl7pPr>
            <a:lvl8pPr indent="0" marL="3200400">
              <a:buNone/>
              <a:defRPr sz="900"/>
            </a:lvl8pPr>
            <a:lvl9pPr indent="0" marL="365760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numCol="1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/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orient="vert" type="title"/>
          </p:nvPr>
        </p:nvSpPr>
        <p:spPr>
          <a:xfrm>
            <a:off x="6629400" y="274638"/>
            <a:ext cx="2057400" cy="5851525"/>
          </a:xfrm>
        </p:spPr>
        <p:txBody>
          <a:bodyPr numCol="1"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idx="1" orient="vert" type="body"/>
          </p:nvPr>
        </p:nvSpPr>
        <p:spPr>
          <a:xfrm>
            <a:off x="457200" y="274638"/>
            <a:ext cx="6019800" cy="5851525"/>
          </a:xfrm>
        </p:spPr>
        <p:txBody>
          <a:bodyPr numCol="1"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 numCol="1"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11" sz="quarter" type="ftr"/>
          </p:nvPr>
        </p:nvSpPr>
        <p:spPr/>
        <p:txBody>
          <a:bodyPr numCol="1"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12" sz="quarter" type="sldNum"/>
          </p:nvPr>
        </p:nvSpPr>
        <p:spPr/>
        <p:txBody>
          <a:bodyPr numCol="1"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2" Target="../slideLayouts/slideLayout11.xml" Type="http://schemas.openxmlformats.org/officeDocument/2006/relationships/slideLayout"/><Relationship Id="rId11" Target="../slideLayouts/slideLayout10.xml" Type="http://schemas.openxmlformats.org/officeDocument/2006/relationships/slideLayout"/><Relationship Id="rId9" Target="../slideLayouts/slideLayout8.xml" Type="http://schemas.openxmlformats.org/officeDocument/2006/relationships/slideLayout"/><Relationship Id="rId10" Target="../slideLayouts/slideLayout9.xml" Type="http://schemas.openxmlformats.org/officeDocument/2006/relationships/slideLayout"/><Relationship Id="rId8" Target="../slideLayouts/slideLayout7.xml" Type="http://schemas.openxmlformats.org/officeDocument/2006/relationships/slideLayout"/><Relationship Id="rId7" Target="../slideLayouts/slideLayout6.xml" Type="http://schemas.openxmlformats.org/officeDocument/2006/relationships/slideLayout"/><Relationship Id="rId6" Target="../slideLayouts/slideLayout5.xml" Type="http://schemas.openxmlformats.org/officeDocument/2006/relationships/slideLayout"/><Relationship Id="rId5" Target="../slideLayouts/slideLayout4.xml" Type="http://schemas.openxmlformats.org/officeDocument/2006/relationships/slideLayout"/><Relationship Id="rId4" Target="../slideLayouts/slideLayout3.xml" Type="http://schemas.openxmlformats.org/officeDocument/2006/relationships/slideLayout"/><Relationship Id="rId3" Target="../slideLayouts/slideLayout2.xml" Type="http://schemas.openxmlformats.org/officeDocument/2006/relationships/slideLayout"/><Relationship Id="rId2" Target="../slideLayouts/slideLayout1.xml" Type="http://schemas.openxmlformats.org/officeDocument/2006/relationships/slideLayout"/><Relationship Id="rId1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anchor="ctr" bIns="45720" lIns="91440" numCol="1" rIns="91440" rtlCol="0" tIns="45720" vert="horz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bIns="45720" lIns="91440" numCol="1" rIns="91440" rtlCol="0" tIns="45720" vert="horz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anchor="ctr" bIns="45720" lIns="91440" numCol="1" rIns="91440" rtlCol="0" tIns="45720" vert="horz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</p:sldLayoutIdLst>
  <p:txStyles>
    <p:titleStyle>
      <a:lvl1pPr algn="ctr" defTabSz="457200" eaLnBrk="1" hangingPunct="1" latinLnBrk="0" rtl="0">
        <a:spcBef>
          <a:spcPct val="0"/>
        </a:spcBef>
        <a:buNone/>
        <a:defRPr kern="1200"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457200" eaLnBrk="1" hangingPunct="1" indent="-342900" latinLnBrk="0" marL="342900" rtl="0">
        <a:spcBef>
          <a:spcPct val="20000"/>
        </a:spcBef>
        <a:buFont typeface="Arial"/>
        <a:buChar char="•"/>
        <a:defRPr kern="1200" sz="32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indent="-285750" latinLnBrk="0" marL="742950" rtl="0">
        <a:spcBef>
          <a:spcPct val="20000"/>
        </a:spcBef>
        <a:buFont typeface="Arial"/>
        <a:buChar char="–"/>
        <a:defRPr kern="1200" sz="2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indent="-228600" latinLnBrk="0" marL="11430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indent="-228600" latinLnBrk="0" marL="1600200" rtl="0">
        <a:spcBef>
          <a:spcPct val="20000"/>
        </a:spcBef>
        <a:buFont typeface="Arial"/>
        <a:buChar char="–"/>
        <a:defRPr kern="1200" sz="20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indent="-228600" latinLnBrk="0" marL="2057400" rtl="0">
        <a:spcBef>
          <a:spcPct val="20000"/>
        </a:spcBef>
        <a:buFont typeface="Arial"/>
        <a:buChar char="»"/>
        <a:defRPr kern="1200" sz="20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indent="-228600" latinLnBrk="0" marL="25146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indent="-228600" latinLnBrk="0" marL="29718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indent="-228600" latinLnBrk="0" marL="34290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indent="-228600" latinLnBrk="0" marL="3886200" rtl="0">
        <a:spcBef>
          <a:spcPct val="20000"/>
        </a:spcBef>
        <a:buFont typeface="Arial"/>
        <a:buChar char="•"/>
        <a:defRPr kern="1200" sz="20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457200" eaLnBrk="1" hangingPunct="1" latinLnBrk="0" marL="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1pPr>
      <a:lvl2pPr algn="l" defTabSz="457200" eaLnBrk="1" hangingPunct="1" latinLnBrk="0" marL="457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2pPr>
      <a:lvl3pPr algn="l" defTabSz="457200" eaLnBrk="1" hangingPunct="1" latinLnBrk="0" marL="914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457200" eaLnBrk="1" hangingPunct="1" latinLnBrk="0" marL="1371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4pPr>
      <a:lvl5pPr algn="l" defTabSz="457200" eaLnBrk="1" hangingPunct="1" latinLnBrk="0" marL="18288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5pPr>
      <a:lvl6pPr algn="l" defTabSz="457200" eaLnBrk="1" hangingPunct="1" latinLnBrk="0" marL="22860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6pPr>
      <a:lvl7pPr algn="l" defTabSz="457200" eaLnBrk="1" hangingPunct="1" latinLnBrk="0" marL="27432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7pPr>
      <a:lvl8pPr algn="l" defTabSz="457200" eaLnBrk="1" hangingPunct="1" latinLnBrk="0" marL="32004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8pPr>
      <a:lvl9pPr algn="l" defTabSz="457200" eaLnBrk="1" hangingPunct="1" latinLnBrk="0" marL="3657600" rtl="0">
        <a:defRPr kern="1200"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2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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869680" y="640080"/>
            <a:ext cx="1828800" cy="1828800"/>
          </a:xfrm>
          <a:prstGeom prst="ellipse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2011680"/>
            <a:ext cx="1280160" cy="1280160"/>
          </a:xfrm>
          <a:prstGeom prst="ellipse">
            <a:avLst/>
          </a:prstGeom>
          <a:solidFill>
            <a:srgbClr val="1C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2743200"/>
            <a:ext cx="914400" cy="914400"/>
          </a:xfrm>
          <a:prstGeom prst="ellipse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424160" y="4023360"/>
            <a:ext cx="640080" cy="640080"/>
          </a:xfrm>
          <a:prstGeom prst="ellipse">
            <a:avLst/>
          </a:prstGeom>
          <a:solidFill>
            <a:srgbClr val="34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94360"/>
            <a:ext cx="347472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200">
                <a:solidFill>
                  <a:srgbClr val="1CA091"/>
                </a:solidFill>
                <a:latin typeface="Aptos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749808" y="1371600"/>
            <a:ext cx="6949440" cy="1417320"/>
          </a:xfrm>
          <a:prstGeom prst="rect">
            <a:avLst/>
          </a:prstGeom>
          <a:solidFill>
            <a:srgbClr val="FFFFFF"/>
          </a:solidFill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3400">
                <a:solidFill>
                  <a:srgbClr val="FFFFFF"/>
                </a:solidFill>
                <a:latin typeface="Aptos"/>
              </a:defRPr>
            </a:pPr>
            <a:r>
              <a:t>GOVERNMENT</a:t>
            </a:r>
            <a:br/>
            <a:r>
              <a:t>SCHEME FINDER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063240"/>
            <a:ext cx="6400800" cy="822960"/>
          </a:xfrm>
          <a:prstGeom prst="rect">
            <a:avLst/>
          </a:prstGeom>
          <a:solidFill>
            <a:srgbClr val="FFFFFF"/>
          </a:solidFill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2000">
                <a:solidFill>
                  <a:srgbClr val="DCE6F5"/>
                </a:solidFill>
                <a:latin typeface="Aptos"/>
              </a:defRPr>
            </a:pPr>
            <a:r>
              <a:t>Helping citizens discover benefits they may qualify for — and understand how to apply.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4754880"/>
            <a:ext cx="4114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200">
                <a:solidFill>
                  <a:srgbClr val="F5B537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5102352"/>
            <a:ext cx="2148840" cy="59436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Answer a few questions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4919472"/>
            <a:ext cx="27432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800">
                <a:solidFill>
                  <a:srgbClr val="1CA0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6329" y="4754478"/>
            <a:ext cx="7273776" cy="1941739"/>
          </a:xfrm>
          <a:prstGeom prst="rect">
            <a:avLst/>
          </a:prstGeom>
          <a:solidFill>
            <a:srgbClr val="FFFFFF"/>
          </a:solidFill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200">
                <a:solidFill>
                  <a:srgbClr val="F5B537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154679" y="5102352"/>
            <a:ext cx="2148840" cy="59436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See relevant schemes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919472"/>
            <a:ext cx="27432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800">
                <a:solidFill>
                  <a:srgbClr val="1CA0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4754880"/>
            <a:ext cx="4114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200">
                <a:solidFill>
                  <a:srgbClr val="F5B537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0" y="5102352"/>
            <a:ext cx="2148840" cy="59436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Apply with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6263640"/>
            <a:ext cx="7315200" cy="2286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900">
                <a:solidFill>
                  <a:srgbClr val="A5B9D2"/>
                </a:solidFill>
                <a:latin typeface="Aptos"/>
              </a:defRPr>
            </a:pPr>
            <a:r>
              <a:t>6-SLIDE CONCEPT PRESENTATION  |  PRODUCT • USER JOURNEY • DELIVERY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1CA091"/>
                </a:solidFill>
                <a:latin typeface="Aptos"/>
              </a:defRPr>
            </a:pPr>
            <a:r>
              <a:t>SCHEME FINDER  /  02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700">
                <a:solidFill>
                  <a:srgbClr val="142342"/>
                </a:solidFill>
                <a:latin typeface="Aptos"/>
              </a:defRPr>
            </a:pPr>
            <a:r>
              <a:t>The problem: eligible citizens miss out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5F6E82"/>
                </a:solidFill>
                <a:latin typeface="Aptos"/>
              </a:defRPr>
            </a:pPr>
            <a:r>
              <a:t>Benefits can exist on paper but remain hard to discover, understand, and claim.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87451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874519"/>
            <a:ext cx="82296" cy="182880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020824"/>
            <a:ext cx="31729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800">
                <a:solidFill>
                  <a:srgbClr val="142342"/>
                </a:solidFill>
                <a:latin typeface="Aptos"/>
              </a:defRPr>
            </a:pPr>
            <a:r>
              <a:t>Information is scattered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496312"/>
            <a:ext cx="3154680" cy="11155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400">
                <a:solidFill>
                  <a:srgbClr val="232D3C"/>
                </a:solidFill>
                <a:latin typeface="Aptos"/>
              </a:defRPr>
            </a:pPr>
            <a:r>
              <a:t>Rules and updates sit across ministry portals, state websites, PDFs, and local offices.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82296" cy="1828800"/>
          </a:xfrm>
          <a:prstGeom prst="rect">
            <a:avLst/>
          </a:prstGeom>
          <a:solidFill>
            <a:srgbClr val="1C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20824"/>
            <a:ext cx="31729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800">
                <a:solidFill>
                  <a:srgbClr val="142342"/>
                </a:solidFill>
                <a:latin typeface="Aptos"/>
              </a:defRPr>
            </a:pPr>
            <a:r>
              <a:t>Language is a barrier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96312"/>
            <a:ext cx="3154680" cy="11155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400">
                <a:solidFill>
                  <a:srgbClr val="232D3C"/>
                </a:solidFill>
                <a:latin typeface="Aptos"/>
              </a:defRPr>
            </a:pPr>
            <a:r>
              <a:t>Official wording, long forms, and technical eligibility terms can be difficult to interpret.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92440" y="1874519"/>
            <a:ext cx="352044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92440" y="1874519"/>
            <a:ext cx="82296" cy="1828800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93608" y="2020824"/>
            <a:ext cx="31729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800">
                <a:solidFill>
                  <a:srgbClr val="142342"/>
                </a:solidFill>
                <a:latin typeface="Aptos"/>
              </a:defRPr>
            </a:pPr>
            <a:r>
              <a:t>The process feels uncertain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93608" y="2496312"/>
            <a:ext cx="3154680" cy="11155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400">
                <a:solidFill>
                  <a:srgbClr val="232D3C"/>
                </a:solidFill>
                <a:latin typeface="Aptos"/>
              </a:defRPr>
            </a:pPr>
            <a:r>
              <a:t>People may not know which documents to gather, where to apply, or what happens next.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94360" y="4069080"/>
            <a:ext cx="11018520" cy="1325880"/>
          </a:xfrm>
          <a:prstGeom prst="roundRect">
            <a:avLst/>
          </a:prstGeom>
          <a:solidFill>
            <a:srgbClr val="1423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4315968"/>
            <a:ext cx="210312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200">
                <a:solidFill>
                  <a:srgbClr val="F5B537"/>
                </a:solidFill>
                <a:latin typeface="Aptos"/>
              </a:defRPr>
            </a:pPr>
            <a:r>
              <a:t>THE CONSEQUENCE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34640" y="4251960"/>
            <a:ext cx="8229600" cy="7315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000">
                <a:solidFill>
                  <a:srgbClr val="FFFFFF"/>
                </a:solidFill>
                <a:latin typeface="Aptos"/>
              </a:defRPr>
            </a:pPr>
            <a:r>
              <a:t>Missed support • wasted time • repeated visits • lower trust in public services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8368" y="5715000"/>
            <a:ext cx="1078992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400">
                <a:solidFill>
                  <a:srgbClr val="5F6E82"/>
                </a:solidFill>
                <a:latin typeface="Aptos"/>
              </a:defRPr>
            </a:pPr>
            <a:r>
              <a:t>Design goal: make discovery simple without promising benefits that still require official verification.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1CA091"/>
                </a:solidFill>
                <a:latin typeface="Aptos"/>
              </a:defRPr>
            </a:pPr>
            <a:r>
              <a:t>SCHEME FINDER  / 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700">
                <a:solidFill>
                  <a:srgbClr val="142342"/>
                </a:solidFill>
                <a:latin typeface="Aptos"/>
              </a:defRPr>
            </a:pPr>
            <a:r>
              <a:t>The solution: one guided starting point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5F6E82"/>
                </a:solidFill>
                <a:latin typeface="Aptos"/>
              </a:defRPr>
            </a:pPr>
            <a:r>
              <a:t>A mobile-first app asks only relevant questions, then explains matching schemes in everyday language.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331720"/>
            <a:ext cx="173736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95528" y="2514600"/>
            <a:ext cx="150876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2C66BE"/>
                </a:solidFill>
                <a:latin typeface="Aptos"/>
              </a:defRPr>
            </a:pPr>
            <a:r>
              <a:t>01  Profile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95528" y="3063240"/>
            <a:ext cx="1508760" cy="11430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Age, state, income range, occupation, household and key circumstances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3108960"/>
            <a:ext cx="4114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000">
                <a:solidFill>
                  <a:srgbClr val="1CA0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71800" y="2331720"/>
            <a:ext cx="173736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81528" y="2514600"/>
            <a:ext cx="150876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1CA091"/>
                </a:solidFill>
                <a:latin typeface="Aptos"/>
              </a:defRPr>
            </a:pPr>
            <a:r>
              <a:t>02  Match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1528" y="3063240"/>
            <a:ext cx="1508760" cy="11430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Compare answers with current eligibility rules and flag missing details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08960"/>
            <a:ext cx="4114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000">
                <a:solidFill>
                  <a:srgbClr val="1CA0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257800" y="2331720"/>
            <a:ext cx="173736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367528" y="2514600"/>
            <a:ext cx="150876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2C66BE"/>
                </a:solidFill>
                <a:latin typeface="Aptos"/>
              </a:defRPr>
            </a:pPr>
            <a:r>
              <a:t>03  Explain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367528" y="3063240"/>
            <a:ext cx="1508760" cy="11430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Show why a scheme may fit, key benefits, limits and exceptions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040880" y="3108960"/>
            <a:ext cx="4114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000">
                <a:solidFill>
                  <a:srgbClr val="1CA0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43800" y="2331720"/>
            <a:ext cx="173736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53527" y="2514600"/>
            <a:ext cx="150876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1CA091"/>
                </a:solidFill>
                <a:latin typeface="Aptos"/>
              </a:defRPr>
            </a:pPr>
            <a:r>
              <a:t>04  Prepare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3527" y="3063240"/>
            <a:ext cx="1508760" cy="11430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Create a tailored checklist of documents and information to gather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3108960"/>
            <a:ext cx="4114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000">
                <a:solidFill>
                  <a:srgbClr val="1CA091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829800" y="2331720"/>
            <a:ext cx="1737360" cy="2148840"/>
          </a:xfrm>
          <a:prstGeom prst="roundRect">
            <a:avLst/>
          </a:prstGeom>
          <a:solidFill>
            <a:srgbClr val="F1F6FC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39528" y="2514600"/>
            <a:ext cx="150876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2C66BE"/>
                </a:solidFill>
                <a:latin typeface="Aptos"/>
              </a:defRPr>
            </a:pPr>
            <a:r>
              <a:t>05  Apply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939528" y="3063240"/>
            <a:ext cx="1508760" cy="11430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Link to official portal, local office, or verified application route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77240" y="4983480"/>
            <a:ext cx="10789920" cy="6858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500">
                <a:solidFill>
                  <a:srgbClr val="142342"/>
                </a:solidFill>
                <a:latin typeface="Aptos"/>
              </a:defRPr>
            </a:pPr>
            <a:r>
              <a:t>Important: results should say “potentially eligible” until the relevant authority confirms the application.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7240" y="5806440"/>
            <a:ext cx="1078992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5F6E82"/>
                </a:solidFill>
                <a:latin typeface="Aptos"/>
              </a:defRPr>
            </a:pPr>
            <a:r>
              <a:t>Access options: local languages • low-bandwidth mode • screen-reader support • assisted use at service centres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6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1CA091"/>
                </a:solidFill>
                <a:latin typeface="Aptos"/>
              </a:defRPr>
            </a:pPr>
            <a:r>
              <a:t>SCHEME FINDER  /  04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700">
                <a:solidFill>
                  <a:srgbClr val="142342"/>
                </a:solidFill>
                <a:latin typeface="Aptos"/>
              </a:defRPr>
            </a:pPr>
            <a:r>
              <a:t>What the citizen sees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5F6E82"/>
                </a:solidFill>
                <a:latin typeface="Aptos"/>
              </a:defRPr>
            </a:pPr>
            <a:r>
              <a:t>Every result should answer three questions: What is it? Why might I qualify? What do I do next?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1828800"/>
            <a:ext cx="3931920" cy="4160520"/>
          </a:xfrm>
          <a:prstGeom prst="roundRect">
            <a:avLst/>
          </a:prstGeom>
          <a:solidFill>
            <a:srgbClr val="FFFFFF"/>
          </a:solidFill>
          <a:ln>
            <a:solidFill>
              <a:srgbClr val="CDDA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057400"/>
            <a:ext cx="338328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1CA091"/>
                </a:solidFill>
                <a:latin typeface="Aptos"/>
              </a:defRPr>
            </a:pPr>
            <a:r>
              <a:t>POTENTIAL MATCH  •  EXAMPLE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450592"/>
            <a:ext cx="329184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000">
                <a:solidFill>
                  <a:srgbClr val="142342"/>
                </a:solidFill>
                <a:latin typeface="Aptos"/>
              </a:defRPr>
            </a:pPr>
            <a:r>
              <a:t>Education Support Scheme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3035808"/>
            <a:ext cx="3246120" cy="7315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300">
                <a:solidFill>
                  <a:srgbClr val="232D3C"/>
                </a:solidFill>
                <a:latin typeface="Aptos"/>
              </a:defRPr>
            </a:pPr>
            <a:r>
              <a:t>May help eligible students with approved education costs. Benefits and rules depend on the scheme.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60120" y="3822191"/>
            <a:ext cx="320040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2C66BE"/>
                </a:solidFill>
                <a:latin typeface="Aptos"/>
              </a:defRPr>
            </a:pPr>
            <a:r>
              <a:t>WHY IT MAY MATCH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096512"/>
            <a:ext cx="320040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• Student in eligible class/age group</a:t>
            </a:r>
            <a:br/>
            <a:r>
              <a:t>• Household income may fit the limit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4773168"/>
            <a:ext cx="320040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2C66BE"/>
                </a:solidFill>
                <a:latin typeface="Aptos"/>
              </a:defRPr>
            </a:pPr>
            <a:r>
              <a:t>NEXT STEPS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5029200"/>
            <a:ext cx="3200400" cy="64008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1. Check exact criteria</a:t>
            </a:r>
            <a:br/>
            <a:r>
              <a:t>2. Prepare documents</a:t>
            </a:r>
            <a:br/>
            <a:r>
              <a:t>3. Apply through official channel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029200" y="1874519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029200" y="1874519"/>
            <a:ext cx="82296" cy="114300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230368" y="2020824"/>
            <a:ext cx="24871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500">
                <a:solidFill>
                  <a:srgbClr val="142342"/>
                </a:solidFill>
                <a:latin typeface="Aptos"/>
              </a:defRPr>
            </a:pPr>
            <a:r>
              <a:t>Plain-language 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30368" y="2496312"/>
            <a:ext cx="2468880" cy="4297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Short, translated explanation with benefits and exclusions.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38160" y="1874519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38160" y="1874519"/>
            <a:ext cx="82296" cy="1143000"/>
          </a:xfrm>
          <a:prstGeom prst="rect">
            <a:avLst/>
          </a:prstGeom>
          <a:solidFill>
            <a:srgbClr val="1C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39328" y="2020824"/>
            <a:ext cx="299008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500">
                <a:solidFill>
                  <a:srgbClr val="142342"/>
                </a:solidFill>
                <a:latin typeface="Aptos"/>
              </a:defRPr>
            </a:pPr>
            <a:r>
              <a:t>Eligibility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39328" y="2496312"/>
            <a:ext cx="2971800" cy="4297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Show each rule as met, not met, or needs confirmation.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029200" y="3337560"/>
            <a:ext cx="2834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029200" y="3337560"/>
            <a:ext cx="82296" cy="1143000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230368" y="3483864"/>
            <a:ext cx="24871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500">
                <a:solidFill>
                  <a:srgbClr val="142342"/>
                </a:solidFill>
                <a:latin typeface="Aptos"/>
              </a:defRPr>
            </a:pPr>
            <a:r>
              <a:t>Document checklist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30368" y="3959352"/>
            <a:ext cx="2468880" cy="4297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Examples: ID, income proof, residence, bank details—only where required.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38160" y="3337560"/>
            <a:ext cx="333756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138160" y="3337560"/>
            <a:ext cx="82296" cy="1143000"/>
          </a:xfrm>
          <a:prstGeom prst="rect">
            <a:avLst/>
          </a:prstGeom>
          <a:solidFill>
            <a:srgbClr val="34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39328" y="3483864"/>
            <a:ext cx="299008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500">
                <a:solidFill>
                  <a:srgbClr val="142342"/>
                </a:solidFill>
                <a:latin typeface="Aptos"/>
              </a:defRPr>
            </a:pPr>
            <a:r>
              <a:t>Official application link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39328" y="3959352"/>
            <a:ext cx="2971800" cy="42976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Direct user to a verified portal or relevant local office.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74920" y="4983480"/>
            <a:ext cx="6309360" cy="68580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142342"/>
                </a:solidFill>
                <a:latin typeface="Aptos"/>
              </a:defRPr>
            </a:pPr>
            <a:r>
              <a:t>Trust signals: last verified date • source link • grievance/help contact • clear privacy notice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09728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1CA091"/>
                </a:solidFill>
                <a:latin typeface="Aptos"/>
              </a:defRPr>
            </a:pPr>
            <a:r>
              <a:t>SCHEME FINDER  /  05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106424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700">
                <a:solidFill>
                  <a:srgbClr val="142342"/>
                </a:solidFill>
                <a:latin typeface="Aptos"/>
              </a:defRPr>
            </a:pPr>
            <a:r>
              <a:t>How it works: trusted data, responsible matching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1170432"/>
            <a:ext cx="10972800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5F6E82"/>
                </a:solidFill>
                <a:latin typeface="Aptos"/>
              </a:defRPr>
            </a:pPr>
            <a:r>
              <a:t>The matching engine is only as good as its sources, update process, and safeguards.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874519"/>
            <a:ext cx="82296" cy="150876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7" y="2020824"/>
            <a:ext cx="31729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142342"/>
                </a:solidFill>
                <a:latin typeface="Aptos"/>
              </a:defRPr>
            </a:pPr>
            <a:r>
              <a:t>1. Scheme catalogue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1247" y="2496312"/>
            <a:ext cx="3154680" cy="795527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Collect central and state schemes, eligibility rules, benefits, required documents, deadlines and official links.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43400" y="1874519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43400" y="1874519"/>
            <a:ext cx="82296" cy="1508760"/>
          </a:xfrm>
          <a:prstGeom prst="rect">
            <a:avLst/>
          </a:prstGeom>
          <a:solidFill>
            <a:srgbClr val="1C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44568" y="2020824"/>
            <a:ext cx="31729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142342"/>
                </a:solidFill>
                <a:latin typeface="Aptos"/>
              </a:defRPr>
            </a:pPr>
            <a:r>
              <a:t>2. Rules &amp; matching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4568" y="2496312"/>
            <a:ext cx="3154680" cy="795527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Convert criteria into structured rules; match profile answers; show unmet or unknown conditions instead of guessing.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046720" y="1874519"/>
            <a:ext cx="3520440" cy="15087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046720" y="1874519"/>
            <a:ext cx="82296" cy="1508760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47888" y="2020824"/>
            <a:ext cx="31729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600">
                <a:solidFill>
                  <a:srgbClr val="142342"/>
                </a:solidFill>
                <a:latin typeface="Aptos"/>
              </a:defRPr>
            </a:pPr>
            <a:r>
              <a:t>3. Review &amp; updates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2496312"/>
            <a:ext cx="3154680" cy="795527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50">
                <a:solidFill>
                  <a:srgbClr val="232D3C"/>
                </a:solidFill>
                <a:latin typeface="Aptos"/>
              </a:defRPr>
            </a:pPr>
            <a:r>
              <a:t>Track source and date, monitor changes, and route uncertain rules to a human reviewer before publishing.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3794760"/>
            <a:ext cx="493776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300">
                <a:solidFill>
                  <a:srgbClr val="1CA091"/>
                </a:solidFill>
                <a:latin typeface="Aptos"/>
              </a:defRPr>
            </a:pPr>
            <a:r>
              <a:t>PRIVACY &amp; SECURITY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160520"/>
            <a:ext cx="4892040" cy="1417320"/>
          </a:xfrm>
          <a:prstGeom prst="rect">
            <a:avLst/>
          </a:prstGeom>
          <a:noFill/>
        </p:spPr>
        <p:txBody>
          <a:bodyPr bIns="27432" lIns="27432" numCol="1" rIns="27432" tIns="27432"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Ask only for information needed to match schemes</a:t>
            </a:r>
          </a:p>
          <a:p>
            <a:pPr>
              <a:spcAft>
                <a:spcPts val="70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Explain why each answer is requested; obtain consent</a:t>
            </a:r>
          </a:p>
          <a:p>
            <a:pPr>
              <a:spcAft>
                <a:spcPts val="70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Protect data in transit and at rest; define retention and deletion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72200" y="3794760"/>
            <a:ext cx="493776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300">
                <a:solidFill>
                  <a:srgbClr val="2C66BE"/>
                </a:solidFill>
                <a:latin typeface="Aptos"/>
              </a:defRPr>
            </a:pPr>
            <a:r>
              <a:t>FAIRNESS &amp; RELIABILITY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4160520"/>
            <a:ext cx="5029200" cy="1417320"/>
          </a:xfrm>
          <a:prstGeom prst="rect">
            <a:avLst/>
          </a:prstGeom>
          <a:noFill/>
        </p:spPr>
        <p:txBody>
          <a:bodyPr bIns="27432" lIns="27432" numCol="1" rIns="27432" tIns="27432" wrap="square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Support local languages, disability access, and low-connectivity use</a:t>
            </a:r>
          </a:p>
          <a:p>
            <a:pPr>
              <a:spcAft>
                <a:spcPts val="70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Avoid opaque scores; show the rule behind each result</a:t>
            </a:r>
          </a:p>
          <a:p>
            <a:pPr>
              <a:spcAft>
                <a:spcPts val="700"/>
              </a:spcAft>
              <a:defRPr sz="1300">
                <a:solidFill>
                  <a:srgbClr val="232D3C"/>
                </a:solidFill>
                <a:latin typeface="Aptos"/>
              </a:defRPr>
            </a:pPr>
            <a:r>
              <a:t>• Never guarantee approval; official authority makes final decisions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4234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371600" cy="2743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000">
                <a:solidFill>
                  <a:srgbClr val="1CA091"/>
                </a:solidFill>
                <a:latin typeface="Aptos"/>
              </a:defRPr>
            </a:pPr>
            <a:r>
              <a:t>SCHEME FINDER  /  06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0972800" cy="50292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2700">
                <a:solidFill>
                  <a:srgbClr val="FFFFFF"/>
                </a:solidFill>
                <a:latin typeface="Aptos"/>
              </a:defRPr>
            </a:pPr>
            <a:r>
              <a:t>Launch small, measure outcomes, then expand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1207008"/>
            <a:ext cx="1097280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BECDE1"/>
                </a:solidFill>
                <a:latin typeface="Aptos"/>
              </a:defRPr>
            </a:pPr>
            <a:r>
              <a:t>Start with a focused pilot before scaling across more schemes, languages, and regions.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" y="196596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965960"/>
            <a:ext cx="82296" cy="1965960"/>
          </a:xfrm>
          <a:prstGeom prst="rect">
            <a:avLst/>
          </a:prstGeom>
          <a:solidFill>
            <a:srgbClr val="1CA0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95528" y="2112264"/>
            <a:ext cx="22585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142342"/>
                </a:solidFill>
                <a:latin typeface="Aptos"/>
              </a:defRPr>
            </a:pPr>
            <a:r>
              <a:t>PHASE 1  •  DISCOVER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95528" y="2587752"/>
            <a:ext cx="2240280" cy="125272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Interview citizens and service workers; select a small set of high-value schemes; validate source data.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196596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74720" y="1965960"/>
            <a:ext cx="82296" cy="1965960"/>
          </a:xfrm>
          <a:prstGeom prst="rect">
            <a:avLst/>
          </a:prstGeom>
          <a:solidFill>
            <a:srgbClr val="2C66B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675887" y="2112264"/>
            <a:ext cx="22585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142342"/>
                </a:solidFill>
                <a:latin typeface="Aptos"/>
              </a:defRPr>
            </a:pPr>
            <a:r>
              <a:t>PHASE 2  • 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75887" y="2587752"/>
            <a:ext cx="2240280" cy="125272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Prototype questionnaire, matching rules, plain-language scheme cards, and official-link directory.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355080" y="196596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355080" y="1965960"/>
            <a:ext cx="82296" cy="1965960"/>
          </a:xfrm>
          <a:prstGeom prst="rect">
            <a:avLst/>
          </a:prstGeom>
          <a:solidFill>
            <a:srgbClr val="F5B5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56248" y="2112264"/>
            <a:ext cx="22585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142342"/>
                </a:solidFill>
                <a:latin typeface="Aptos"/>
              </a:defRPr>
            </a:pPr>
            <a:r>
              <a:t>PHASE 3  •  PILOT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587752"/>
            <a:ext cx="2240280" cy="125272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Test with diverse users; verify matches with scheme experts; fix confusing steps and accessibility gaps.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235440" y="1965960"/>
            <a:ext cx="2606040" cy="1965960"/>
          </a:xfrm>
          <a:prstGeom prst="roundRect">
            <a:avLst/>
          </a:prstGeom>
          <a:solidFill>
            <a:srgbClr val="FFFFFF"/>
          </a:solidFill>
          <a:ln>
            <a:solidFill>
              <a:srgbClr val="DCE5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235440" y="1965960"/>
            <a:ext cx="82296" cy="1965960"/>
          </a:xfrm>
          <a:prstGeom prst="rect">
            <a:avLst/>
          </a:prstGeom>
          <a:solidFill>
            <a:srgbClr val="3496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 numCol="1" rtlCol="0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36608" y="2112264"/>
            <a:ext cx="2258568" cy="38404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142342"/>
                </a:solidFill>
                <a:latin typeface="Aptos"/>
              </a:defRPr>
            </a:pPr>
            <a:r>
              <a:t>PHASE 4  •  SCALE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608" y="2587752"/>
            <a:ext cx="2240280" cy="125272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200">
                <a:solidFill>
                  <a:srgbClr val="232D3C"/>
                </a:solidFill>
                <a:latin typeface="Aptos"/>
              </a:defRPr>
            </a:pPr>
            <a:r>
              <a:t>Add regions and languages; automate update alerts; create partnerships with public service centres.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343400"/>
            <a:ext cx="274320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200">
                <a:solidFill>
                  <a:srgbClr val="F5B537"/>
                </a:solidFill>
                <a:latin typeface="Aptos"/>
              </a:defRPr>
            </a:pPr>
            <a:r>
              <a:t>MEASURE SUCCESS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" y="4736592"/>
            <a:ext cx="2606040" cy="29260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Discovery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0080" y="5074920"/>
            <a:ext cx="2606040" cy="64008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150">
                <a:solidFill>
                  <a:srgbClr val="CDDAEB"/>
                </a:solidFill>
                <a:latin typeface="Aptos"/>
              </a:defRPr>
            </a:pPr>
            <a:r>
              <a:t>Relevant schemes found per user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520439" y="4736592"/>
            <a:ext cx="2606040" cy="29260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Clarity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20439" y="5074920"/>
            <a:ext cx="2606040" cy="64008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150">
                <a:solidFill>
                  <a:srgbClr val="CDDAEB"/>
                </a:solidFill>
                <a:latin typeface="Aptos"/>
              </a:defRPr>
            </a:pPr>
            <a:r>
              <a:t>Users who understand next steps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0" y="4736592"/>
            <a:ext cx="2606040" cy="29260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Action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0" y="5074920"/>
            <a:ext cx="2606040" cy="64008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150">
                <a:solidFill>
                  <a:srgbClr val="CDDAEB"/>
                </a:solidFill>
                <a:latin typeface="Aptos"/>
              </a:defRPr>
            </a:pPr>
            <a:r>
              <a:t>Clicks to official portals / completed applications where measurable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81159" y="4736592"/>
            <a:ext cx="2606040" cy="292608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400">
                <a:solidFill>
                  <a:srgbClr val="FFFFFF"/>
                </a:solidFill>
                <a:latin typeface="Aptos"/>
              </a:defRPr>
            </a:pPr>
            <a:r>
              <a:t>Trust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81159" y="5074920"/>
            <a:ext cx="2606040" cy="64008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0" sz="1150">
                <a:solidFill>
                  <a:srgbClr val="CDDAEB"/>
                </a:solidFill>
                <a:latin typeface="Aptos"/>
              </a:defRPr>
            </a:pPr>
            <a:r>
              <a:t>Accuracy, freshness, and user-reported confidence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6080760"/>
            <a:ext cx="10789920" cy="320040"/>
          </a:xfrm>
          <a:prstGeom prst="rect">
            <a:avLst/>
          </a:prstGeom>
          <a:noFill/>
        </p:spPr>
        <p:txBody>
          <a:bodyPr anchor="t" bIns="36576" lIns="36576" numCol="1" rIns="36576" tIns="36576" wrap="square">
            <a:spAutoFit/>
          </a:bodyPr>
          <a:lstStyle/>
          <a:p>
            <a:pPr>
              <a:defRPr b="1" sz="1300">
                <a:solidFill>
                  <a:srgbClr val="1CA091"/>
                </a:solidFill>
                <a:latin typeface="Aptos"/>
              </a:defRPr>
            </a:pPr>
            <a:r>
              <a:t>Outcome: a clear, accessible bridge between public benefits and the people they are designed to serve.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algn="ctr" cap="flat" cmpd="sng" w="9525">
          <a:solidFill>
            <a:schemeClr val="phClr">
              <a:shade val="95000"/>
              <a:satMod val="105000"/>
            </a:schemeClr>
          </a:solidFill>
          <a:prstDash val="solid"/>
        </a:ln>
        <a:ln algn="ctr" cap="flat" cmpd="sng" w="25400">
          <a:solidFill>
            <a:schemeClr val="phClr"/>
          </a:solidFill>
          <a:prstDash val="solid"/>
        </a:ln>
        <a:ln algn="ctr" cap="flat" cmpd="sng"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r="5400000" dist="2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r="5400000" dist="23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dir="t" rig="threePt">
              <a:rot lat="0" lon="0" rev="1200000"/>
            </a:lightRig>
          </a:scene3d>
          <a:sp3d>
            <a:bevelT h="25400" w="635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b="180000" l="50000" r="50000" t="-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b="50000" l="50000" r="50000" t="50000"/>
          </a:path>
        </a:gradFill>
      </a:bgFillStyleLst>
    </a:fmtScheme>
  </a:themeElements>
  <a:objectDefaults>
    <a:spDef>
      <a:spPr/>
      <a:bodyPr numCol="1"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 numCol="1"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Manager/>
  <Company/>
  <Words>0</Words>
  <Paragraphs>0</Paragraphs>
  <Slides>0</Slides>
  <Notes>0</Notes>
  <TotalTime>1</TotalTime>
  <HiddenSlides>0</HiddenSlides>
  <MMClips>0</MMClips>
  <ScaleCrop>false</ScaleCrop>
  <HeadingPairs>
    <vt:vector baseType="variant" size="4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baseType="lpstr" size="1">
      <vt:lpstr>Office Theme</vt:lpstr>
    </vt:vector>
  </TitlesOfParts>
  <LinksUpToDate>false</LinksUpToDate>
  <SharedDoc>false</SharedDoc>
  <HyperlinkBase/>
  <HyperlinksChanged>false</HyperlinksChanged>
  <Application>Microsoft Macintosh PowerPoint</Application>
  <AppVersion>14.0000</AppVersion>
  <PresentationFormat>On-screen Show (4:3)</PresentationFormat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category/>
  <dcterms:created xsi:type="dcterms:W3CDTF">2013-01-27T09:14:16Z</dcterms:created>
  <dc:creator/>
  <dc:description>generated using python-pptx</dc:description>
  <cp:keywords/>
  <cp:lastModifiedBy>Steve Canny</cp:lastModifiedBy>
  <dcterms:modified xsi:type="dcterms:W3CDTF">2013-01-27T09:15:58Z</dcterms:modified>
  <cp:revision>1</cp:revision>
  <dc:subject/>
  <dc:title/>
</cp:coreProperties>
</file>